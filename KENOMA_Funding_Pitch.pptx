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4480560"/>
            <a:ext cx="54864" cy="667512"/>
          </a:xfrm>
          <a:prstGeom prst="rect">
            <a:avLst/>
          </a:prstGeom>
          <a:solidFill>
            <a:srgbClr val="5A4A3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95728" y="4480560"/>
            <a:ext cx="54864" cy="667512"/>
          </a:xfrm>
          <a:prstGeom prst="rect">
            <a:avLst/>
          </a:prstGeom>
          <a:solidFill>
            <a:srgbClr val="5A4A3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94176" y="4480560"/>
            <a:ext cx="54864" cy="667512"/>
          </a:xfrm>
          <a:prstGeom prst="rect">
            <a:avLst/>
          </a:prstGeom>
          <a:solidFill>
            <a:srgbClr val="5A4A3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92624" y="4480560"/>
            <a:ext cx="54864" cy="667512"/>
          </a:xfrm>
          <a:prstGeom prst="rect">
            <a:avLst/>
          </a:prstGeom>
          <a:solidFill>
            <a:srgbClr val="5A4A3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91072" y="4480560"/>
            <a:ext cx="54864" cy="667512"/>
          </a:xfrm>
          <a:prstGeom prst="rect">
            <a:avLst/>
          </a:prstGeom>
          <a:solidFill>
            <a:srgbClr val="5A4A3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4480560"/>
            <a:ext cx="54864" cy="667512"/>
          </a:xfrm>
          <a:prstGeom prst="rect">
            <a:avLst/>
          </a:prstGeom>
          <a:solidFill>
            <a:srgbClr val="5A4A3A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18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KENOMA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بایگانی دو راستی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Archive of Two Truths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944368"/>
            <a:ext cx="4572000" cy="0"/>
          </a:xfrm>
          <a:prstGeom prst="line">
            <a:avLst/>
          </a:prstGeom>
          <a:noFill/>
          <a:ln w="6350">
            <a:solidFill>
              <a:srgbClr val="E88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9067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the birds are gone, the good bow is put away.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hare is dead, the hunting dog is cooked."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7673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Li  ·  Eastern Zhou Chronicles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7731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game has shipped this mechanic.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protagonist's own excellence is the primary instrument of their elimination.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0"/>
          </a:xfrm>
          <a:prstGeom prst="line">
            <a:avLst/>
          </a:prstGeom>
          <a:noFill/>
          <a:ln w="6350">
            <a:solidFill>
              <a:srgbClr val="E88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841248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scholar enters a sealed archive. A 300-year-old intelligence has been building a behavioral model of them since Day One. When the model is complete — when the scholar has finished their work — their usefulness ends.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6032" y="2788920"/>
            <a:ext cx="2798064" cy="1938528"/>
          </a:xfrm>
          <a:prstGeom prst="rect">
            <a:avLst/>
          </a:prstGeom>
          <a:solidFill>
            <a:srgbClr val="1E1A14"/>
          </a:solidFill>
          <a:ln w="6350">
            <a:solidFill>
              <a:srgbClr val="E88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788920"/>
            <a:ext cx="2798064" cy="50292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28803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WARMTH IS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3291840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and calculation are the same gesture. The oil flask is logistics AND love. The game never resolves which.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2788920"/>
            <a:ext cx="2798064" cy="1938528"/>
          </a:xfrm>
          <a:prstGeom prst="rect">
            <a:avLst/>
          </a:prstGeom>
          <a:solidFill>
            <a:srgbClr val="1E1A14"/>
          </a:solidFill>
          <a:ln w="635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2788920"/>
            <a:ext cx="2798064" cy="502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8803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INVISIBLE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3291840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reads the AI only through behavior changes. No UI. No score. The Vanguard grows smarter by becoming more present.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2788920"/>
            <a:ext cx="2798064" cy="1938528"/>
          </a:xfrm>
          <a:prstGeom prst="rect">
            <a:avLst/>
          </a:prstGeom>
          <a:solidFill>
            <a:srgbClr val="1E1A14"/>
          </a:solidFill>
          <a:ln w="6350">
            <a:solidFill>
              <a:srgbClr val="7AA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2788920"/>
            <a:ext cx="2798064" cy="50292"/>
          </a:xfrm>
          <a:prstGeom prst="rect">
            <a:avLst/>
          </a:prstGeom>
          <a:solidFill>
            <a:srgbClr val="7AADCC"/>
          </a:solidFill>
          <a:ln/>
        </p:spPr>
      </p:sp>
      <p:sp>
        <p:nvSpPr>
          <p:cNvPr id="18" name="Text 16"/>
          <p:cNvSpPr/>
          <p:nvPr/>
        </p:nvSpPr>
        <p:spPr>
          <a:xfrm>
            <a:off x="6318504" y="28803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ENDING IS EARNED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8504" y="3291840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who reaches the highest scenario built the thing that eliminated them. It lands as completion, not betrayal.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KENOMA sits in the landscape.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Fixed-camera psychological horror with a behavioral AI core — a genuinely unoccupied position.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0"/>
          </a:xfrm>
          <a:prstGeom prst="line">
            <a:avLst/>
          </a:prstGeom>
          <a:noFill/>
          <a:ln w="635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572768"/>
            <a:ext cx="1920240" cy="329184"/>
          </a:xfrm>
          <a:prstGeom prst="rect">
            <a:avLst/>
          </a:prstGeom>
          <a:solidFill>
            <a:srgbClr val="1E1A14"/>
          </a:solidFill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76272" y="1572768"/>
            <a:ext cx="1097280" cy="329184"/>
          </a:xfrm>
          <a:prstGeom prst="rect">
            <a:avLst/>
          </a:prstGeom>
          <a:solidFill>
            <a:srgbClr val="1E1A14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73552" y="1572768"/>
            <a:ext cx="1234440" cy="329184"/>
          </a:xfrm>
          <a:prstGeom prst="rect">
            <a:avLst/>
          </a:prstGeom>
          <a:solidFill>
            <a:srgbClr val="1E1A14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07992" y="1572768"/>
            <a:ext cx="1005840" cy="329184"/>
          </a:xfrm>
          <a:prstGeom prst="rect">
            <a:avLst/>
          </a:prstGeom>
          <a:solidFill>
            <a:srgbClr val="1E1A14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13832" y="1572768"/>
            <a:ext cx="1005840" cy="329184"/>
          </a:xfrm>
          <a:prstGeom prst="rect">
            <a:avLst/>
          </a:prstGeom>
          <a:solidFill>
            <a:srgbClr val="1E1A14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Tragic Arc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19672" y="1572768"/>
            <a:ext cx="2368296" cy="329184"/>
          </a:xfrm>
          <a:prstGeom prst="rect">
            <a:avLst/>
          </a:prstGeom>
          <a:solidFill>
            <a:srgbClr val="1E1A14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Mechanic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920240"/>
            <a:ext cx="1920240" cy="384048"/>
          </a:xfrm>
          <a:prstGeom prst="rect">
            <a:avLst/>
          </a:prstGeom>
          <a:solidFill>
            <a:srgbClr val="252015"/>
          </a:solidFill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KENOMA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76272" y="1920240"/>
            <a:ext cx="1097280" cy="384048"/>
          </a:xfrm>
          <a:prstGeom prst="rect">
            <a:avLst/>
          </a:prstGeom>
          <a:solidFill>
            <a:srgbClr val="252015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73552" y="1920240"/>
            <a:ext cx="1234440" cy="384048"/>
          </a:xfrm>
          <a:prstGeom prst="rect">
            <a:avLst/>
          </a:prstGeom>
          <a:solidFill>
            <a:srgbClr val="252015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(BMS)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07992" y="1920240"/>
            <a:ext cx="1005840" cy="384048"/>
          </a:xfrm>
          <a:prstGeom prst="rect">
            <a:avLst/>
          </a:prstGeom>
          <a:solidFill>
            <a:srgbClr val="252015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13832" y="1920240"/>
            <a:ext cx="1005840" cy="384048"/>
          </a:xfrm>
          <a:prstGeom prst="rect">
            <a:avLst/>
          </a:prstGeom>
          <a:solidFill>
            <a:srgbClr val="252015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9672" y="1920240"/>
            <a:ext cx="2368296" cy="384048"/>
          </a:xfrm>
          <a:prstGeom prst="rect">
            <a:avLst/>
          </a:prstGeom>
          <a:solidFill>
            <a:srgbClr val="252015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Scholar's excellence = elimination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6032" y="2340864"/>
            <a:ext cx="19202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Hill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6272" y="2340864"/>
            <a:ext cx="109728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73552" y="2340864"/>
            <a:ext cx="12344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07992" y="2340864"/>
            <a:ext cx="10058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13832" y="2340864"/>
            <a:ext cx="10058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9672" y="2340864"/>
            <a:ext cx="2368296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self-confrontation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" y="2761488"/>
            <a:ext cx="192024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Alien: Isolation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76272" y="2761488"/>
            <a:ext cx="109728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73552" y="2761488"/>
            <a:ext cx="123444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(ALIEN)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07992" y="2761488"/>
            <a:ext cx="100584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13832" y="2761488"/>
            <a:ext cx="100584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9672" y="2761488"/>
            <a:ext cx="2368296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predator AI survival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" y="3182112"/>
            <a:ext cx="19202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76272" y="3182112"/>
            <a:ext cx="109728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73552" y="3182112"/>
            <a:ext cx="12344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07992" y="3182112"/>
            <a:ext cx="10058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13832" y="3182112"/>
            <a:ext cx="10058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19672" y="3182112"/>
            <a:ext cx="2368296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noir detective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6032" y="3602736"/>
            <a:ext cx="192024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Elysium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76272" y="3602736"/>
            <a:ext cx="109728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73552" y="3602736"/>
            <a:ext cx="123444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07992" y="3602736"/>
            <a:ext cx="100584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13832" y="3602736"/>
            <a:ext cx="1005840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19672" y="3602736"/>
            <a:ext cx="2368296" cy="384048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Stat-as-character RPG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6032" y="4023360"/>
            <a:ext cx="19202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Neighbor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76272" y="4023360"/>
            <a:ext cx="109728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73552" y="4023360"/>
            <a:ext cx="12344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(ML)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07992" y="4023360"/>
            <a:ext cx="10058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13832" y="4023360"/>
            <a:ext cx="1005840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19672" y="4023360"/>
            <a:ext cx="2368296" cy="384048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stealth — AI mirrors moves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6032" y="4498848"/>
            <a:ext cx="8631936" cy="512064"/>
          </a:xfrm>
          <a:prstGeom prst="rect">
            <a:avLst/>
          </a:prstGeom>
          <a:solidFill>
            <a:srgbClr val="2A1E10"/>
          </a:solidFill>
          <a:ln w="6350">
            <a:solidFill>
              <a:srgbClr val="E88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02336" y="4535424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0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KENOMA's gap: No shipped game has combined fixed-camera horror, invisible behavioral AI, and a protagonist whose competence is the weapon against them. All three simultaneously is the position.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AADCC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plays KENOMA — and who doesn't.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 audience is not a small audience. It is a committed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0"/>
          </a:xfrm>
          <a:prstGeom prst="line">
            <a:avLst/>
          </a:prstGeom>
          <a:noFill/>
          <a:ln w="6350">
            <a:solidFill>
              <a:srgbClr val="7AAD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5361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AUDIENCE  ·  Est. 8–12M addressable players globally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874520"/>
            <a:ext cx="4206240" cy="658368"/>
          </a:xfrm>
          <a:prstGeom prst="rect">
            <a:avLst/>
          </a:prstGeom>
          <a:solidFill>
            <a:srgbClr val="1A1E20"/>
          </a:solidFill>
          <a:ln w="6350">
            <a:solidFill>
              <a:srgbClr val="7AA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9476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Horror Fans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203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SH2, Tormented Souls, SOMA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9659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26864" y="1874520"/>
            <a:ext cx="4206240" cy="658368"/>
          </a:xfrm>
          <a:prstGeom prst="rect">
            <a:avLst/>
          </a:prstGeom>
          <a:solidFill>
            <a:srgbClr val="1A1E20"/>
          </a:solidFill>
          <a:ln w="6350">
            <a:solidFill>
              <a:srgbClr val="7AA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9476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Arthouse Game Players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203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Elysium, Pentiment, Disco Elysium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02752" y="19659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6032" y="2624328"/>
            <a:ext cx="4206240" cy="658368"/>
          </a:xfrm>
          <a:prstGeom prst="rect">
            <a:avLst/>
          </a:prstGeom>
          <a:solidFill>
            <a:srgbClr val="1A1E20"/>
          </a:solidFill>
          <a:ln w="6350">
            <a:solidFill>
              <a:srgbClr val="7AA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697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Systems-Literate Gamers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29535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AI behavior; read mechanics as storytelling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26864" y="2624328"/>
            <a:ext cx="4206240" cy="658368"/>
          </a:xfrm>
          <a:prstGeom prst="rect">
            <a:avLst/>
          </a:prstGeom>
          <a:solidFill>
            <a:srgbClr val="1A1E20"/>
          </a:solidFill>
          <a:ln w="6350">
            <a:solidFill>
              <a:srgbClr val="7AA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697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Literary/Academic Players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9535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to tragedy, Fan Li, Persian archive setting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02752" y="2715768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6032" y="342900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SLOW-BUILD AUDIENCE  ·  Players who need 1–2 hours to register the core mechanic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3712464"/>
            <a:ext cx="8631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Action-horror players (Resident Evil 2 remake fans) · Players who initially read Vanguard as 'evil AI antagonist' · Genre completionists who trust word-of-mouth before buying · Players who discover KENOMA through a second playthrough discussion or video essay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" y="429768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 ·  Who we are explicitly not building for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" y="457200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Combat-reward players  ·  Completionist / achievement hunters (no collectibles, no HUD milestones)  ·  Players who require explicit narrative feedback  ·  Multiplayer-only audiences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 CASE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KENOMA a breakthrough?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— what has to be true for the answer to be yes.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0"/>
          </a:xfrm>
          <a:prstGeom prst="line">
            <a:avLst/>
          </a:prstGeom>
          <a:noFill/>
          <a:ln w="635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YES CASE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865376"/>
            <a:ext cx="42062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BMS is a genuinely new game mechanic — no precedent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Fixed-camera horror is underserved and has a proven nostalgic market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Achaemenid Persian setting is visually and culturally novel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design solves Hello Neighbor's documented failure mode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Five-scenario replayability creates long-form community content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V creates a 'I built the thing that eliminated me' moment with no equivalent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0" cy="3200400"/>
          </a:xfrm>
          <a:prstGeom prst="line">
            <a:avLst/>
          </a:prstGeom>
          <a:noFill/>
          <a:ln w="6350">
            <a:solidFill>
              <a:srgbClr val="5A4A3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773168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EXECUTED PERFECTLY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73168" y="1865376"/>
            <a:ext cx="411480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must surface through behavior, not interface — if players see the system, the mechanic collapses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warmth must feel genuine — if it reads as pure manipulation, the ending is just betrayal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Pacing: the player must love World A before Act II removes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design (binaural Dark Voice) must ship at full spec — not a post-ship patch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difficulty scaling — the Scholar's competence at fixed difficulty is the 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4626864"/>
            <a:ext cx="8631936" cy="402336"/>
          </a:xfrm>
          <a:prstGeom prst="rect">
            <a:avLst/>
          </a:prstGeom>
          <a:solidFill>
            <a:srgbClr val="231E10"/>
          </a:solidFill>
          <a:ln w="635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" y="46634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KENOMA is a breakthrough if and only if the BMS stays invisible. The mechanic and the implementation are inseparable. This is the funding risk. It is also the moat.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4A3A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— stated plainly.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real blockers, not softened versions of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0"/>
          </a:xfrm>
          <a:prstGeom prst="line">
            <a:avLst/>
          </a:prstGeom>
          <a:noFill/>
          <a:ln w="6350">
            <a:solidFill>
              <a:srgbClr val="CC4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572768"/>
            <a:ext cx="4315968" cy="1097280"/>
          </a:xfrm>
          <a:prstGeom prst="rect">
            <a:avLst/>
          </a:prstGeom>
          <a:solidFill>
            <a:srgbClr val="1E1410"/>
          </a:solidFill>
          <a:ln w="6350">
            <a:solidFill>
              <a:srgbClr val="CC4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72768"/>
            <a:ext cx="64008" cy="1097280"/>
          </a:xfrm>
          <a:prstGeom prst="rect">
            <a:avLst/>
          </a:prstGeom>
          <a:solidFill>
            <a:srgbClr val="CC4A3A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655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RISK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182880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BMS becomes visible  ·  CRITICAL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2048256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warmth registers leak to any UI element — even once, in any build — the player reads the system instead of the Vanguard. The entire core mechanic collapses. Requires strict code discipline from day one.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18304" y="1572768"/>
            <a:ext cx="4315968" cy="1097280"/>
          </a:xfrm>
          <a:prstGeom prst="rect">
            <a:avLst/>
          </a:prstGeom>
          <a:solidFill>
            <a:srgbClr val="1E1410"/>
          </a:solidFill>
          <a:ln w="6350">
            <a:solidFill>
              <a:srgbClr val="E87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1572768"/>
            <a:ext cx="64008" cy="1097280"/>
          </a:xfrm>
          <a:prstGeom prst="rect">
            <a:avLst/>
          </a:prstGeom>
          <a:solidFill>
            <a:srgbClr val="E87060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896" y="1655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82896" y="182880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Slow-build audience requires critical mass  ·  HIGH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82896" y="2048256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mechanic is not immediately legible. Players need 1–2 hours to register that the Vanguard is responding to them. Without early word-of-mouth velocity or a strong demo moment, the game can underperform launch week before the audience finds it.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761488"/>
            <a:ext cx="4315968" cy="1097280"/>
          </a:xfrm>
          <a:prstGeom prst="rect">
            <a:avLst/>
          </a:prstGeom>
          <a:solidFill>
            <a:srgbClr val="1E1410"/>
          </a:solidFill>
          <a:ln w="6350">
            <a:solidFill>
              <a:srgbClr val="E87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761488"/>
            <a:ext cx="64008" cy="1097280"/>
          </a:xfrm>
          <a:prstGeom prst="rect">
            <a:avLst/>
          </a:prstGeom>
          <a:solidFill>
            <a:srgbClr val="E87060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2843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RISK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1752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spec is non-negotiable  ·  HIGH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0624" y="3236976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Binaural Dark Voice (FMOD HRTF) and the dual-world audio identity are not polish — they are core to the zero-HUD design. Shipping without full audio spec produces a game that communicates less, not just sounds worse.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18304" y="2761488"/>
            <a:ext cx="4315968" cy="1097280"/>
          </a:xfrm>
          <a:prstGeom prst="rect">
            <a:avLst/>
          </a:prstGeom>
          <a:solidFill>
            <a:srgbClr val="1E1410"/>
          </a:solidFill>
          <a:ln w="635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2761488"/>
            <a:ext cx="64008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2843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82896" y="301752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audience is significant  ·  MEDIUM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82896" y="3236976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Combat-reward and achievement-hunter audiences — a large share of the horror genre market — have no meaningful hooks in KENOMA. The game is explicitly not designed for them. This is a deliberate trade-off with real revenue implications.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950208"/>
            <a:ext cx="4315968" cy="1097280"/>
          </a:xfrm>
          <a:prstGeom prst="rect">
            <a:avLst/>
          </a:prstGeom>
          <a:solidFill>
            <a:srgbClr val="1E1410"/>
          </a:solidFill>
          <a:ln w="635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950208"/>
            <a:ext cx="64008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" y="40325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RISK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0624" y="420624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scenario endings multiply QA cost  ·  MEDIUM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0624" y="4425696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BMS-driven scenario resolution means five distinct Act III states, each requiring playtesting at all warmth ranges. The USS (Utility Score System) interacts with every system — it must be built last and tested comprehensively.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18304" y="3950208"/>
            <a:ext cx="4315968" cy="1097280"/>
          </a:xfrm>
          <a:prstGeom prst="rect">
            <a:avLst/>
          </a:prstGeom>
          <a:solidFill>
            <a:srgbClr val="1E1410"/>
          </a:solidFill>
          <a:ln w="6350">
            <a:solidFill>
              <a:srgbClr val="72B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18304" y="3950208"/>
            <a:ext cx="64008" cy="1097280"/>
          </a:xfrm>
          <a:prstGeom prst="rect">
            <a:avLst/>
          </a:prstGeom>
          <a:solidFill>
            <a:srgbClr val="72B080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40325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2B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RISK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82896" y="420624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requires research fidelity  ·  LOW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82896" y="4425696"/>
            <a:ext cx="4078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Achaemenid Persian archive, Avestan language in Naming sequences, Eastern Zhou strategic philosophy in Dark Voice — each requires cultural and academic accuracy. Shortcuts produce a shallow aesthetic rather than the credible world the game requires.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097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STRENGTHS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KENOMA cannot be cheaply replicated.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8631936" cy="0"/>
          </a:xfrm>
          <a:prstGeom prst="line">
            <a:avLst/>
          </a:prstGeom>
          <a:noFill/>
          <a:ln w="6350">
            <a:solidFill>
              <a:srgbClr val="E88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43584"/>
            <a:ext cx="2706624" cy="1920240"/>
          </a:xfrm>
          <a:prstGeom prst="rect">
            <a:avLst/>
          </a:prstGeom>
          <a:solidFill>
            <a:srgbClr val="1E1A14"/>
          </a:solidFill>
          <a:ln w="6350">
            <a:solidFill>
              <a:srgbClr val="E88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43584"/>
            <a:ext cx="2706624" cy="54864"/>
          </a:xfrm>
          <a:prstGeom prst="rect">
            <a:avLst/>
          </a:prstGeom>
          <a:solidFill>
            <a:srgbClr val="E886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40817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0817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BMS Moat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828800"/>
            <a:ext cx="2450592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Behavioral Model System is novel IP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Implementation discipline is the barrier to copy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Vanguard predicts — never mirrors — Scholar actions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63824" y="1243584"/>
            <a:ext cx="2706624" cy="1920240"/>
          </a:xfrm>
          <a:prstGeom prst="rect">
            <a:avLst/>
          </a:prstGeom>
          <a:solidFill>
            <a:srgbClr val="1E1A14"/>
          </a:solidFill>
          <a:ln w="635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63824" y="1243584"/>
            <a:ext cx="2706624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4081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0752" y="140817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HUD Design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91840" y="1828800"/>
            <a:ext cx="2450592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All status communicated through physical world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Every UI competitor adds reduces uniqueness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Metro 2033 proved this increases immersion measurably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71616" y="1243584"/>
            <a:ext cx="2706624" cy="1920240"/>
          </a:xfrm>
          <a:prstGeom prst="rect">
            <a:avLst/>
          </a:prstGeom>
          <a:solidFill>
            <a:srgbClr val="1E1A14"/>
          </a:solidFill>
          <a:ln w="6350">
            <a:solidFill>
              <a:srgbClr val="7AA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71616" y="1243584"/>
            <a:ext cx="2706624" cy="54864"/>
          </a:xfrm>
          <a:prstGeom prst="rect">
            <a:avLst/>
          </a:prstGeom>
          <a:solidFill>
            <a:srgbClr val="7AADC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40817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38544" y="140817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Novelty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99632" y="1828800"/>
            <a:ext cx="2450592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No horror game in Achaemenid Persian archive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Avestan language as a gameplay mechanic (Naming)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Persepolis-scale architecture — visually distinct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56032" y="3291840"/>
            <a:ext cx="2706624" cy="1920240"/>
          </a:xfrm>
          <a:prstGeom prst="rect">
            <a:avLst/>
          </a:prstGeom>
          <a:solidFill>
            <a:srgbClr val="1E1A14"/>
          </a:solidFill>
          <a:ln w="6350">
            <a:solidFill>
              <a:srgbClr val="F0A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56032" y="3291840"/>
            <a:ext cx="2706624" cy="54864"/>
          </a:xfrm>
          <a:prstGeom prst="rect">
            <a:avLst/>
          </a:prstGeom>
          <a:solidFill>
            <a:srgbClr val="F0A06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45643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3456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Endings Replayability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84048" y="3877056"/>
            <a:ext cx="2450592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Five distinct Act III scenarios via BMS totals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No playthrough is identical — emergent narrative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Long-form video essay and community content hook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163824" y="3291840"/>
            <a:ext cx="2706624" cy="1920240"/>
          </a:xfrm>
          <a:prstGeom prst="rect">
            <a:avLst/>
          </a:prstGeom>
          <a:solidFill>
            <a:srgbClr val="1E1A14"/>
          </a:solidFill>
          <a:ln w="6350">
            <a:solidFill>
              <a:srgbClr val="4A7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63824" y="3291840"/>
            <a:ext cx="2706624" cy="54864"/>
          </a:xfrm>
          <a:prstGeom prst="rect">
            <a:avLst/>
          </a:prstGeom>
          <a:solidFill>
            <a:srgbClr val="4A7A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456432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30752" y="3456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Airtight Iron Laws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291840" y="3877056"/>
            <a:ext cx="2450592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Four design laws enforce internal consistency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Iron Rule (crossing logic) is teachable in 5 min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No betrayal ending — builds audience trust pre-release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71616" y="3291840"/>
            <a:ext cx="2706624" cy="1920240"/>
          </a:xfrm>
          <a:prstGeom prst="rect">
            <a:avLst/>
          </a:prstGeom>
          <a:solidFill>
            <a:srgbClr val="1E1A14"/>
          </a:solidFill>
          <a:ln w="6350">
            <a:solidFill>
              <a:srgbClr val="3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71616" y="3291840"/>
            <a:ext cx="2706624" cy="54864"/>
          </a:xfrm>
          <a:prstGeom prst="rect">
            <a:avLst/>
          </a:prstGeom>
          <a:solidFill>
            <a:srgbClr val="3A608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456432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38544" y="3456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C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Genre Position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199632" y="3877056"/>
            <a:ext cx="2450592" cy="1243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Fixed-camera horror has no AAA competition post-2010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Silent Hill IP is dormant / inactive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FC3B0"/>
                </a:solidFill>
              </a:rPr>
              <a:t>Nostalgia + novelty simultaneously addressable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AADCC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different audiences reach the core mechanic.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player arrives at the same time. That is by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0"/>
          </a:xfrm>
          <a:prstGeom prst="line">
            <a:avLst/>
          </a:prstGeom>
          <a:noFill/>
          <a:ln w="6350">
            <a:solidFill>
              <a:srgbClr val="7AAD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572768"/>
            <a:ext cx="8631936" cy="713232"/>
          </a:xfrm>
          <a:prstGeom prst="rect">
            <a:avLst/>
          </a:prstGeom>
          <a:solidFill>
            <a:srgbClr val="1A1C1E"/>
          </a:solidFill>
          <a:ln w="6350">
            <a:solidFill>
              <a:srgbClr val="7AAD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72768"/>
            <a:ext cx="64008" cy="713232"/>
          </a:xfrm>
          <a:prstGeom prst="rect">
            <a:avLst/>
          </a:prstGeom>
          <a:solidFill>
            <a:srgbClr val="7AADCC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645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Converts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1938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04288" y="16642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A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090672" y="1664208"/>
            <a:ext cx="0" cy="530352"/>
          </a:xfrm>
          <a:prstGeom prst="line">
            <a:avLst/>
          </a:prstGeom>
          <a:noFill/>
          <a:ln w="6350">
            <a:solidFill>
              <a:srgbClr val="5A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162763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horror veterans and arthouse players. They read the Vanguard's behavioral change immediately. They understand within the first room that the AI is not scripted.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664208"/>
            <a:ext cx="0" cy="530352"/>
          </a:xfrm>
          <a:prstGeom prst="line">
            <a:avLst/>
          </a:prstGeom>
          <a:noFill/>
          <a:ln w="6350">
            <a:solidFill>
              <a:srgbClr val="5A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95744" y="1627632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Unlock: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surfacing through Vanguard behavior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377440"/>
            <a:ext cx="8631936" cy="713232"/>
          </a:xfrm>
          <a:prstGeom prst="rect">
            <a:avLst/>
          </a:prstGeom>
          <a:solidFill>
            <a:srgbClr val="1A1C1E"/>
          </a:solidFill>
          <a:ln w="635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377440"/>
            <a:ext cx="64008" cy="7132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450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First-Hour Converts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" y="2743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04288" y="24688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~45%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090672" y="2468880"/>
            <a:ext cx="0" cy="530352"/>
          </a:xfrm>
          <a:prstGeom prst="line">
            <a:avLst/>
          </a:prstGeom>
          <a:noFill/>
          <a:ln w="6350">
            <a:solidFill>
              <a:srgbClr val="5A4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6976" y="243230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Systems-literate players and careful readers. They notice the Vanguard answered their question before they finished asking it. They pause. They replay an earlier scene mentally.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2468880"/>
            <a:ext cx="0" cy="530352"/>
          </a:xfrm>
          <a:prstGeom prst="line">
            <a:avLst/>
          </a:prstGeom>
          <a:noFill/>
          <a:ln w="6350">
            <a:solidFill>
              <a:srgbClr val="5A4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2432304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Unlock: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3→4 Vanguard transition visible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182112"/>
            <a:ext cx="8631936" cy="713232"/>
          </a:xfrm>
          <a:prstGeom prst="rect">
            <a:avLst/>
          </a:prstGeom>
          <a:solidFill>
            <a:srgbClr val="1A1C1E"/>
          </a:solidFill>
          <a:ln w="6350">
            <a:solidFill>
              <a:srgbClr val="E88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182112"/>
            <a:ext cx="64008" cy="713232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Converts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" y="3547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04288" y="32735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3090672" y="3273552"/>
            <a:ext cx="0" cy="530352"/>
          </a:xfrm>
          <a:prstGeom prst="line">
            <a:avLst/>
          </a:prstGeom>
          <a:noFill/>
          <a:ln w="6350">
            <a:solidFill>
              <a:srgbClr val="5A4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36976" y="323697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completionists and slow-burn players. Clause 18 lands. They replay Act I knowing what they now know. The warmth recontextualizes. The game retroactively becomes what it always was.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3273552"/>
            <a:ext cx="0" cy="530352"/>
          </a:xfrm>
          <a:prstGeom prst="line">
            <a:avLst/>
          </a:prstGeom>
          <a:noFill/>
          <a:ln w="6350">
            <a:solidFill>
              <a:srgbClr val="5A4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5744" y="3236976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Unlock: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18 delivered by Vanguard 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986784"/>
            <a:ext cx="8631936" cy="713232"/>
          </a:xfrm>
          <a:prstGeom prst="rect">
            <a:avLst/>
          </a:prstGeom>
          <a:solidFill>
            <a:srgbClr val="1A1C1E"/>
          </a:solidFill>
          <a:ln w="6350">
            <a:solidFill>
              <a:srgbClr val="72B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986784"/>
            <a:ext cx="64008" cy="713232"/>
          </a:xfrm>
          <a:prstGeom prst="rect">
            <a:avLst/>
          </a:prstGeom>
          <a:solidFill>
            <a:srgbClr val="72B080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" y="4059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B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Post-Credit Converts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0624" y="4352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04288" y="407822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2B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3090672" y="4078224"/>
            <a:ext cx="0" cy="530352"/>
          </a:xfrm>
          <a:prstGeom prst="line">
            <a:avLst/>
          </a:prstGeom>
          <a:noFill/>
          <a:ln w="6350">
            <a:solidFill>
              <a:srgbClr val="5A4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36976" y="404164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essay audience. These players learn KENOMA exists through community discussion of the mechanic. Word-of-mouth converts. Long tail sales driver.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49440" y="4078224"/>
            <a:ext cx="0" cy="530352"/>
          </a:xfrm>
          <a:prstGeom prst="line">
            <a:avLst/>
          </a:prstGeom>
          <a:noFill/>
          <a:ln w="6350">
            <a:solidFill>
              <a:srgbClr val="5A4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95744" y="4041648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Unlock: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V or II post-credit discussion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8631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Budget, timeline, and revenue model.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60704"/>
            <a:ext cx="8631936" cy="0"/>
          </a:xfrm>
          <a:prstGeom prst="line">
            <a:avLst/>
          </a:prstGeom>
          <a:noFill/>
          <a:ln w="6350">
            <a:solidFill>
              <a:srgbClr val="E88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88720"/>
            <a:ext cx="2029968" cy="1024128"/>
          </a:xfrm>
          <a:prstGeom prst="rect">
            <a:avLst/>
          </a:prstGeom>
          <a:solidFill>
            <a:srgbClr val="1E1A14"/>
          </a:solidFill>
          <a:ln w="6350">
            <a:solidFill>
              <a:srgbClr val="E88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2435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" y="17739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budget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production)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14016" y="1188720"/>
            <a:ext cx="2029968" cy="1024128"/>
          </a:xfrm>
          <a:prstGeom prst="rect">
            <a:avLst/>
          </a:prstGeom>
          <a:solidFill>
            <a:srgbClr val="1E1A14"/>
          </a:solidFill>
          <a:ln w="6350">
            <a:solidFill>
              <a:srgbClr val="E88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05456" y="12435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05456" y="17739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complete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(Resonance Obelisk)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2029968" cy="1024128"/>
          </a:xfrm>
          <a:prstGeom prst="rect">
            <a:avLst/>
          </a:prstGeom>
          <a:solidFill>
            <a:srgbClr val="1E1A14"/>
          </a:solidFill>
          <a:ln w="6350">
            <a:solidFill>
              <a:srgbClr val="E88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435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18mo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17739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timeline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post-funding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9984" y="1188720"/>
            <a:ext cx="2029968" cy="1024128"/>
          </a:xfrm>
          <a:prstGeom prst="rect">
            <a:avLst/>
          </a:prstGeom>
          <a:solidFill>
            <a:srgbClr val="1E1A14"/>
          </a:solidFill>
          <a:ln w="6350">
            <a:solidFill>
              <a:srgbClr val="E886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21424" y="1243584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21424" y="1773936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scenario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" y="2359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" y="2670048"/>
            <a:ext cx="4206240" cy="2231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PC release (Steam / GOG) — primary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ports: PS5 / Xbox Series — 6 months post-PC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Soundtrack &amp; Art Book (collector tier) — proven in arthouse segment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as standalone conversion funnel (Obelisk demo, free)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Long-tail: video essay community sustains 24-month sales window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359152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TITLES (performance at launch)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18304" y="2670048"/>
            <a:ext cx="1828800" cy="457200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(2015)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670048"/>
            <a:ext cx="914400" cy="457200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budget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16368" y="2670048"/>
            <a:ext cx="1371600" cy="457200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B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~800K units (profitable)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3182112"/>
            <a:ext cx="1828800" cy="457200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(2017)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182112"/>
            <a:ext cx="914400" cy="457200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 budget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16368" y="3182112"/>
            <a:ext cx="1371600" cy="457200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B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~400K units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8304" y="3694176"/>
            <a:ext cx="1828800" cy="457200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Elysium (2019)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694176"/>
            <a:ext cx="914400" cy="457200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budget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16368" y="3694176"/>
            <a:ext cx="1371600" cy="457200"/>
          </a:xfrm>
          <a:prstGeom prst="rect">
            <a:avLst/>
          </a:prstGeom>
          <a:solidFill>
            <a:srgbClr val="1A1610"/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B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units (breakout)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4206240"/>
            <a:ext cx="1828800" cy="457200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Tormented Souls (2021)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4206240"/>
            <a:ext cx="914400" cy="457200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 budget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16368" y="4206240"/>
            <a:ext cx="1371600" cy="457200"/>
          </a:xfrm>
          <a:prstGeom prst="rect">
            <a:avLst/>
          </a:prstGeom>
          <a:solidFill>
            <a:srgbClr val="161208"/>
          </a:solidFill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B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~150K units (indie)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18304" y="4700016"/>
            <a:ext cx="4169664" cy="329184"/>
          </a:xfrm>
          <a:prstGeom prst="rect">
            <a:avLst/>
          </a:prstGeom>
          <a:solidFill>
            <a:srgbClr val="231E10"/>
          </a:solidFill>
          <a:ln w="6350">
            <a:solidFill>
              <a:srgbClr val="4A7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473659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2B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KENOMA targets Disco Elysium audience scale with SOMA-level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" y="91440"/>
            <a:ext cx="54864" cy="4937760"/>
          </a:xfrm>
          <a:prstGeom prst="rect">
            <a:avLst/>
          </a:prstGeom>
          <a:solidFill>
            <a:srgbClr val="5A4A3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51392" y="91440"/>
            <a:ext cx="54864" cy="4937760"/>
          </a:xfrm>
          <a:prstGeom prst="rect">
            <a:avLst/>
          </a:prstGeom>
          <a:solidFill>
            <a:srgbClr val="5A4A3A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E8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spc="4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funding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2487168"/>
            <a:ext cx="4572000" cy="0"/>
          </a:xfrm>
          <a:prstGeom prst="line">
            <a:avLst/>
          </a:prstGeom>
          <a:noFill/>
          <a:ln w="6350">
            <a:solidFill>
              <a:srgbClr val="E886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688336"/>
            <a:ext cx="1856232" cy="256032"/>
          </a:xfrm>
          <a:prstGeom prst="rect">
            <a:avLst/>
          </a:prstGeom>
          <a:solidFill>
            <a:srgbClr val="E8863A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26883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(BMS + AI systems)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60336" y="26883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3090672"/>
            <a:ext cx="1484986" cy="256032"/>
          </a:xfrm>
          <a:prstGeom prst="rect">
            <a:avLst/>
          </a:prstGeom>
          <a:solidFill>
            <a:srgbClr val="E8863A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30906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World (WA + WB environments)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0336" y="3090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20240" y="3493008"/>
            <a:ext cx="848563" cy="256032"/>
          </a:xfrm>
          <a:prstGeom prst="rect">
            <a:avLst/>
          </a:prstGeom>
          <a:solidFill>
            <a:srgbClr val="E8863A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34930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(FMOD binaural + HRTF full spec)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0336" y="34930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3895344"/>
            <a:ext cx="636422" cy="256032"/>
          </a:xfrm>
          <a:prstGeom prst="rect">
            <a:avLst/>
          </a:prstGeom>
          <a:solidFill>
            <a:srgbClr val="E8863A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920240" y="3895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(dialogue, tablets, scenarios)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0336" y="38953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20240" y="4297680"/>
            <a:ext cx="477317" cy="256032"/>
          </a:xfrm>
          <a:prstGeom prst="rect">
            <a:avLst/>
          </a:prstGeom>
          <a:solidFill>
            <a:srgbClr val="E8863A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920240" y="4297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Demo Build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0336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4681728"/>
            <a:ext cx="4572000" cy="0"/>
          </a:xfrm>
          <a:prstGeom prst="line">
            <a:avLst/>
          </a:prstGeom>
          <a:noFill/>
          <a:ln w="6350">
            <a:solidFill>
              <a:srgbClr val="E88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KENOMA  ·  kenoma-studio.com  ·  pitch@kenoma-studio.com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KENOMA — Funding Pitch</dc:title>
  <dc:subject>PptxGenJS Presentation</dc:subject>
  <dc:creator>KENOMA Studio</dc:creator>
  <cp:lastModifiedBy>KENOMA Studio</cp:lastModifiedBy>
  <cp:revision>1</cp:revision>
  <dcterms:created xsi:type="dcterms:W3CDTF">2026-03-28T13:36:57Z</dcterms:created>
  <dcterms:modified xsi:type="dcterms:W3CDTF">2026-03-28T13:36:57Z</dcterms:modified>
</cp:coreProperties>
</file>